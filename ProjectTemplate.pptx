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8"/>
  </p:notesMasterIdLst>
  <p:sldIdLst>
    <p:sldId id="256" r:id="rId5"/>
    <p:sldId id="2146847054" r:id="rId6"/>
    <p:sldId id="262" r:id="rId7"/>
    <p:sldId id="263" r:id="rId8"/>
    <p:sldId id="265" r:id="rId9"/>
    <p:sldId id="266" r:id="rId10"/>
    <p:sldId id="267" r:id="rId11"/>
    <p:sldId id="2146847056" r:id="rId12"/>
    <p:sldId id="2146847061" r:id="rId13"/>
    <p:sldId id="2146847062" r:id="rId14"/>
    <p:sldId id="2146847064" r:id="rId15"/>
    <p:sldId id="2146847060" r:id="rId16"/>
    <p:sldId id="2146847059" r:id="rId17"/>
    <p:sldId id="2146847057" r:id="rId18"/>
    <p:sldId id="2146847065" r:id="rId19"/>
    <p:sldId id="2146847066" r:id="rId20"/>
    <p:sldId id="2146847058" r:id="rId21"/>
    <p:sldId id="2146847063" r:id="rId22"/>
    <p:sldId id="2146847067" r:id="rId23"/>
    <p:sldId id="268" r:id="rId24"/>
    <p:sldId id="2146847055" r:id="rId25"/>
    <p:sldId id="269" r:id="rId26"/>
    <p:sldId id="259"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a:bodyPr>
          <a:lstStyle/>
          <a:p>
            <a:pPr algn="ctr"/>
            <a:r>
              <a:rPr lang="en-US" sz="2800" b="1" dirty="0">
                <a:solidFill>
                  <a:schemeClr val="accent1"/>
                </a:solidFill>
                <a:latin typeface="Arial"/>
                <a:cs typeface="Arial"/>
              </a:rPr>
              <a:t>Improved source of drinking water </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05908" y="3932927"/>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 Suraj ojha</a:t>
            </a:r>
          </a:p>
          <a:p>
            <a:pPr marL="457200" indent="-457200">
              <a:buAutoNum type="arabicPeriod"/>
            </a:pPr>
            <a:r>
              <a:rPr lang="en-US" sz="2000" b="1" dirty="0">
                <a:solidFill>
                  <a:schemeClr val="accent1">
                    <a:lumMod val="75000"/>
                  </a:schemeClr>
                </a:solidFill>
                <a:latin typeface="Arial"/>
                <a:cs typeface="Arial"/>
              </a:rPr>
              <a:t>College Name : Haridwar University</a:t>
            </a:r>
          </a:p>
          <a:p>
            <a:pPr marL="457200" indent="-457200">
              <a:buAutoNum type="arabicPeriod"/>
            </a:pPr>
            <a:r>
              <a:rPr lang="en-US" sz="2000" b="1" dirty="0">
                <a:solidFill>
                  <a:schemeClr val="accent1">
                    <a:lumMod val="75000"/>
                  </a:schemeClr>
                </a:solidFill>
                <a:latin typeface="Arial"/>
                <a:cs typeface="Arial"/>
              </a:rPr>
              <a:t>Department : </a:t>
            </a:r>
            <a:r>
              <a:rPr lang="en-US" sz="2000" b="1" dirty="0" err="1">
                <a:solidFill>
                  <a:schemeClr val="accent1">
                    <a:lumMod val="75000"/>
                  </a:schemeClr>
                </a:solidFill>
                <a:latin typeface="Arial"/>
                <a:cs typeface="Arial"/>
              </a:rPr>
              <a:t>B.Tech</a:t>
            </a:r>
            <a:r>
              <a:rPr lang="en-US" sz="2000" b="1" dirty="0">
                <a:solidFill>
                  <a:schemeClr val="accent1">
                    <a:lumMod val="75000"/>
                  </a:schemeClr>
                </a:solidFill>
                <a:latin typeface="Arial"/>
                <a:cs typeface="Arial"/>
              </a:rPr>
              <a:t>(CSE)</a:t>
            </a:r>
          </a:p>
          <a:p>
            <a:pPr marL="457200" indent="-457200">
              <a:buAutoNum type="arabicPeriod"/>
            </a:pPr>
            <a:r>
              <a:rPr lang="en-US" sz="2000" b="1" dirty="0">
                <a:solidFill>
                  <a:schemeClr val="accent1">
                    <a:lumMod val="75000"/>
                  </a:schemeClr>
                </a:solidFill>
                <a:latin typeface="Arial"/>
                <a:cs typeface="Arial"/>
              </a:rPr>
              <a:t>Faculty name : </a:t>
            </a:r>
            <a:r>
              <a:rPr lang="en-US" sz="2000" b="1" dirty="0" err="1">
                <a:solidFill>
                  <a:schemeClr val="accent1">
                    <a:lumMod val="75000"/>
                  </a:schemeClr>
                </a:solidFill>
                <a:latin typeface="Arial"/>
                <a:cs typeface="Arial"/>
              </a:rPr>
              <a:t>Mr</a:t>
            </a:r>
            <a:r>
              <a:rPr lang="en-US" sz="2000" b="1" dirty="0">
                <a:solidFill>
                  <a:schemeClr val="accent1">
                    <a:lumMod val="75000"/>
                  </a:schemeClr>
                </a:solidFill>
                <a:latin typeface="Arial"/>
                <a:cs typeface="Arial"/>
              </a:rPr>
              <a:t> Aman sir</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305435" indent="-305435"/>
            <a:r>
              <a:rPr lang="en-US" sz="2400" dirty="0"/>
              <a:t>The Challenge: Access to safe and improved sources of drinking water remains a critical issue in India, especially in rural and underdeveloped regions. Despite ongoing efforts under the Sustainable Development Goals (SDGs), inequalities persist in water accessibility across states and socio-economic groups. This project aims to analyze data from the 78th Round of the Multiple Indicator Survey (MIS) to assess the percentage of the population with access to improved drinking water sources. It will also explore related indicators such as use of clean cooking fuel and migration trends. By identifying patterns and disparities, the study will generate actionable insights to support evidence-based policymaking. The ultimate goal is to help ensure equitable access to clean water and contribute to India's progress on SDG targets. </a:t>
            </a:r>
            <a:endParaRPr lang="en-IN" sz="2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0" indent="0">
              <a:buNone/>
            </a:pPr>
            <a:r>
              <a:rPr lang="en-US" dirty="0"/>
              <a:t>.</a:t>
            </a:r>
          </a:p>
          <a:p>
            <a:endParaRPr lang="en-US" b="1" dirty="0"/>
          </a:p>
          <a:p>
            <a:r>
              <a:rPr lang="en-US" b="1" dirty="0"/>
              <a:t>Proposed Solution:</a:t>
            </a:r>
            <a:br>
              <a:rPr lang="en-US" dirty="0"/>
            </a:br>
            <a:r>
              <a:rPr lang="en-US" dirty="0"/>
              <a:t>Develop a </a:t>
            </a:r>
            <a:r>
              <a:rPr lang="en-US" b="1" dirty="0"/>
              <a:t>smart drinking water monitoring system using AI and ML</a:t>
            </a:r>
            <a:r>
              <a:rPr lang="en-US" dirty="0"/>
              <a:t> that continuously analyzes water quality data and predicts contamination.</a:t>
            </a:r>
          </a:p>
          <a:p>
            <a:r>
              <a:rPr lang="en-US" b="1" dirty="0"/>
              <a:t>How it Works:</a:t>
            </a:r>
            <a:endParaRPr lang="en-US" dirty="0"/>
          </a:p>
          <a:p>
            <a:r>
              <a:rPr lang="en-US" dirty="0"/>
              <a:t>Sensors measure pH, turbidity, TDS, temperature, and chlorine</a:t>
            </a:r>
          </a:p>
          <a:p>
            <a:r>
              <a:rPr lang="en-US" dirty="0"/>
              <a:t>Data is sent to the cloud in real time</a:t>
            </a:r>
          </a:p>
          <a:p>
            <a:r>
              <a:rPr lang="en-US" dirty="0"/>
              <a:t>ML models classify water as </a:t>
            </a:r>
            <a:r>
              <a:rPr lang="en-US" b="1" dirty="0"/>
              <a:t>safe or unsafe</a:t>
            </a:r>
            <a:r>
              <a:rPr lang="en-US" dirty="0"/>
              <a:t> and detect anomalies.</a:t>
            </a:r>
          </a:p>
          <a:p>
            <a:r>
              <a:rPr lang="en-US" b="1" dirty="0"/>
              <a:t>Technologies Used:</a:t>
            </a:r>
            <a:br>
              <a:rPr lang="en-US" dirty="0"/>
            </a:br>
            <a:r>
              <a:rPr lang="en-US" dirty="0"/>
              <a:t>IoT sensors, Python, Machine Learning (Random Forest / LSTM), Cloud platform, Dashboard</a:t>
            </a:r>
          </a:p>
          <a:p>
            <a:r>
              <a:rPr lang="en-US" b="1" dirty="0"/>
              <a:t>Benefits:</a:t>
            </a:r>
            <a:endParaRPr lang="en-US" dirty="0"/>
          </a:p>
          <a:p>
            <a:r>
              <a:rPr lang="en-US" dirty="0"/>
              <a:t>Early contamination detection</a:t>
            </a:r>
          </a:p>
          <a:p>
            <a:r>
              <a:rPr lang="en-US" dirty="0"/>
              <a:t>Improved public health</a:t>
            </a:r>
          </a:p>
          <a:p>
            <a:r>
              <a:rPr lang="en-US" dirty="0"/>
              <a:t>Reduced manual testing</a:t>
            </a:r>
          </a:p>
          <a:p>
            <a:r>
              <a:rPr lang="en-US" dirty="0"/>
              <a:t>Faster decision-making</a:t>
            </a:r>
          </a:p>
          <a:p>
            <a:pPr marL="0" indent="0">
              <a:buNone/>
            </a:pPr>
            <a:endParaRPr lang="en-US" dirty="0"/>
          </a:p>
          <a:p>
            <a:endParaRPr lang="en-US" b="1"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endParaRPr lang="en-US" b="1" dirty="0"/>
          </a:p>
          <a:p>
            <a:r>
              <a:rPr lang="en-US" sz="2000" dirty="0">
                <a:solidFill>
                  <a:schemeClr val="tx1">
                    <a:lumMod val="95000"/>
                    <a:lumOff val="5000"/>
                  </a:schemeClr>
                </a:solidFill>
              </a:rPr>
              <a:t>The proposed system uses AI and Machine Learning to monitor, analyze, and predict drinking water quality in real time. Sensor data is collected, processed, and analyzed to detect contamination and support timely decision-making.</a:t>
            </a:r>
          </a:p>
          <a:p>
            <a:pPr marL="305435" indent="-305435"/>
            <a:r>
              <a:rPr lang="en-IN" sz="1800" b="1" dirty="0">
                <a:solidFill>
                  <a:srgbClr val="0F0F0F"/>
                </a:solidFill>
              </a:rPr>
              <a:t>System requirements</a:t>
            </a:r>
          </a:p>
          <a:p>
            <a:pPr marL="305435" indent="-305435"/>
            <a:r>
              <a:rPr lang="en-IN" sz="18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091381"/>
            <a:ext cx="11029615" cy="5515896"/>
          </a:xfrm>
        </p:spPr>
        <p:txBody>
          <a:bodyPr>
            <a:noAutofit/>
          </a:bodyPr>
          <a:lstStyle/>
          <a:p>
            <a:pPr marL="0" indent="0">
              <a:buNone/>
            </a:pPr>
            <a:endParaRPr lang="en-US" sz="1400" b="1" dirty="0"/>
          </a:p>
          <a:p>
            <a:r>
              <a:rPr lang="en-US" sz="1400" dirty="0"/>
              <a:t>A </a:t>
            </a:r>
            <a:r>
              <a:rPr lang="en-US" sz="1400" b="1" dirty="0"/>
              <a:t>Machine Learning classification and prediction model</a:t>
            </a:r>
            <a:r>
              <a:rPr lang="en-US" sz="1400" dirty="0"/>
              <a:t> (Random Forest / LSTM) is used to analyze drinking water quality. Random Forest is chosen for its high accuracy and ability to handle non-linear relationships, while LSTM can be used for time-series prediction of future water quality trends.</a:t>
            </a:r>
          </a:p>
          <a:p>
            <a:r>
              <a:rPr lang="en-US" sz="1400" b="1" dirty="0"/>
              <a:t>Data Input</a:t>
            </a:r>
          </a:p>
          <a:p>
            <a:r>
              <a:rPr lang="en-US" sz="1400" dirty="0"/>
              <a:t>The algorithm uses the following input features:</a:t>
            </a:r>
          </a:p>
          <a:p>
            <a:r>
              <a:rPr lang="en-US" sz="1400" dirty="0"/>
              <a:t>pH level</a:t>
            </a:r>
          </a:p>
          <a:p>
            <a:r>
              <a:rPr lang="en-US" sz="1400" dirty="0"/>
              <a:t>Turbidity</a:t>
            </a:r>
          </a:p>
          <a:p>
            <a:r>
              <a:rPr lang="en-US" sz="1400" dirty="0"/>
              <a:t>Total Dissolved Solids (TDS)</a:t>
            </a:r>
          </a:p>
          <a:p>
            <a:r>
              <a:rPr lang="en-US" sz="1400" dirty="0"/>
              <a:t>Temperature</a:t>
            </a:r>
          </a:p>
          <a:p>
            <a:r>
              <a:rPr lang="en-US" sz="1400" b="1" dirty="0"/>
              <a:t>Training Process</a:t>
            </a:r>
          </a:p>
          <a:p>
            <a:r>
              <a:rPr lang="en-US" sz="1400" dirty="0"/>
              <a:t>The model is trained using historical water quality data. Data preprocessing includes cleaning, normalization, and feature selection. The dataset is split into training and testing sets, and techniques such as cross-validation and hyperparameter tuning are applied to improve model performance.</a:t>
            </a:r>
          </a:p>
          <a:p>
            <a:r>
              <a:rPr lang="en-US" sz="1400" b="1" dirty="0"/>
              <a:t>Prediction Process</a:t>
            </a:r>
          </a:p>
          <a:p>
            <a:r>
              <a:rPr lang="en-US" sz="1400" dirty="0"/>
              <a:t>The trained model predicts whether the water is </a:t>
            </a:r>
            <a:r>
              <a:rPr lang="en-US" sz="1400" b="1" dirty="0"/>
              <a:t>safe or unsafe</a:t>
            </a:r>
            <a:r>
              <a:rPr lang="en-US" sz="1400" dirty="0"/>
              <a:t> and forecasts potential quality degradation. Real-time sensor data is fed into the model to generate continuous predictions and trigger alerts when unsafe conditions are detected.</a:t>
            </a:r>
          </a:p>
          <a:p>
            <a:pPr marL="305435" indent="-305435"/>
            <a:endParaRPr lang="en-IN" sz="1400" dirty="0"/>
          </a:p>
        </p:txBody>
      </p:sp>
    </p:spTree>
    <p:extLst>
      <p:ext uri="{BB962C8B-B14F-4D97-AF65-F5344CB8AC3E}">
        <p14:creationId xmlns:p14="http://schemas.microsoft.com/office/powerpoint/2010/main" val="4154508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US" sz="2400" dirty="0"/>
              <a:t>The performance of the proposed machine learning model was evaluated using historical and real-time drinking water quality data. The model’s effectiveness was measured in terms of accuracy and its ability to correctly predict water safety levels.</a:t>
            </a:r>
            <a:endParaRPr lang="en-IN" sz="2400" dirty="0"/>
          </a:p>
        </p:txBody>
      </p:sp>
    </p:spTree>
    <p:extLst>
      <p:ext uri="{BB962C8B-B14F-4D97-AF65-F5344CB8AC3E}">
        <p14:creationId xmlns:p14="http://schemas.microsoft.com/office/powerpoint/2010/main" val="148329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67678E-50BB-310B-C348-C3B9A6201580}"/>
              </a:ext>
            </a:extLst>
          </p:cNvPr>
          <p:cNvSpPr txBox="1"/>
          <p:nvPr/>
        </p:nvSpPr>
        <p:spPr>
          <a:xfrm>
            <a:off x="629264" y="934064"/>
            <a:ext cx="7128387" cy="707886"/>
          </a:xfrm>
          <a:prstGeom prst="rect">
            <a:avLst/>
          </a:prstGeom>
          <a:noFill/>
        </p:spPr>
        <p:txBody>
          <a:bodyPr wrap="square">
            <a:spAutoFit/>
          </a:bodyPr>
          <a:lstStyle/>
          <a:p>
            <a:r>
              <a:rPr lang="en-US" sz="4000" b="1" dirty="0">
                <a:solidFill>
                  <a:schemeClr val="accent1"/>
                </a:solidFill>
                <a:latin typeface="Arial"/>
                <a:ea typeface="+mj-lt"/>
                <a:cs typeface="Arial"/>
              </a:rPr>
              <a:t>Result</a:t>
            </a:r>
            <a:endParaRPr lang="en-IN" sz="4000" dirty="0"/>
          </a:p>
        </p:txBody>
      </p:sp>
      <p:pic>
        <p:nvPicPr>
          <p:cNvPr id="7" name="Picture 6">
            <a:extLst>
              <a:ext uri="{FF2B5EF4-FFF2-40B4-BE49-F238E27FC236}">
                <a16:creationId xmlns:a16="http://schemas.microsoft.com/office/drawing/2014/main" id="{F9DF1209-383C-6940-40DE-9BF1FC21C5EE}"/>
              </a:ext>
            </a:extLst>
          </p:cNvPr>
          <p:cNvPicPr>
            <a:picLocks noChangeAspect="1"/>
          </p:cNvPicPr>
          <p:nvPr/>
        </p:nvPicPr>
        <p:blipFill>
          <a:blip r:embed="rId2"/>
          <a:stretch>
            <a:fillRect/>
          </a:stretch>
        </p:blipFill>
        <p:spPr>
          <a:xfrm>
            <a:off x="629264" y="1872190"/>
            <a:ext cx="10520517" cy="4164818"/>
          </a:xfrm>
          <a:prstGeom prst="rect">
            <a:avLst/>
          </a:prstGeom>
        </p:spPr>
      </p:pic>
    </p:spTree>
    <p:extLst>
      <p:ext uri="{BB962C8B-B14F-4D97-AF65-F5344CB8AC3E}">
        <p14:creationId xmlns:p14="http://schemas.microsoft.com/office/powerpoint/2010/main" val="3815574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828A7E-1B62-6BFF-4DEE-14EC6660C61C}"/>
              </a:ext>
            </a:extLst>
          </p:cNvPr>
          <p:cNvSpPr txBox="1"/>
          <p:nvPr/>
        </p:nvSpPr>
        <p:spPr>
          <a:xfrm>
            <a:off x="727588" y="621579"/>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609EEC27-BD52-BFF3-9EB0-FEB25F58D613}"/>
              </a:ext>
            </a:extLst>
          </p:cNvPr>
          <p:cNvPicPr>
            <a:picLocks noChangeAspect="1"/>
          </p:cNvPicPr>
          <p:nvPr/>
        </p:nvPicPr>
        <p:blipFill>
          <a:blip r:embed="rId2"/>
          <a:stretch>
            <a:fillRect/>
          </a:stretch>
        </p:blipFill>
        <p:spPr>
          <a:xfrm>
            <a:off x="727588" y="1267910"/>
            <a:ext cx="10166554" cy="5191884"/>
          </a:xfrm>
          <a:prstGeom prst="rect">
            <a:avLst/>
          </a:prstGeom>
        </p:spPr>
      </p:pic>
    </p:spTree>
    <p:extLst>
      <p:ext uri="{BB962C8B-B14F-4D97-AF65-F5344CB8AC3E}">
        <p14:creationId xmlns:p14="http://schemas.microsoft.com/office/powerpoint/2010/main" val="12803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104D36-E087-B748-E0AD-9AD80E8154EA}"/>
              </a:ext>
            </a:extLst>
          </p:cNvPr>
          <p:cNvSpPr txBox="1"/>
          <p:nvPr/>
        </p:nvSpPr>
        <p:spPr>
          <a:xfrm>
            <a:off x="688259" y="605360"/>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B987A4D7-7486-F9E0-765A-7C0FD5FF46CF}"/>
              </a:ext>
            </a:extLst>
          </p:cNvPr>
          <p:cNvPicPr>
            <a:picLocks noChangeAspect="1"/>
          </p:cNvPicPr>
          <p:nvPr/>
        </p:nvPicPr>
        <p:blipFill>
          <a:blip r:embed="rId2"/>
          <a:stretch>
            <a:fillRect/>
          </a:stretch>
        </p:blipFill>
        <p:spPr>
          <a:xfrm>
            <a:off x="688259" y="1251691"/>
            <a:ext cx="9743767" cy="5480869"/>
          </a:xfrm>
          <a:prstGeom prst="rect">
            <a:avLst/>
          </a:prstGeom>
        </p:spPr>
      </p:pic>
    </p:spTree>
    <p:extLst>
      <p:ext uri="{BB962C8B-B14F-4D97-AF65-F5344CB8AC3E}">
        <p14:creationId xmlns:p14="http://schemas.microsoft.com/office/powerpoint/2010/main" val="19428689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AE034C-F96E-7147-5AF1-C09E11CE2A4F}"/>
              </a:ext>
            </a:extLst>
          </p:cNvPr>
          <p:cNvSpPr txBox="1"/>
          <p:nvPr/>
        </p:nvSpPr>
        <p:spPr>
          <a:xfrm>
            <a:off x="629265" y="51342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DDD2AA03-3A29-AAE6-718A-AF147D4E083E}"/>
              </a:ext>
            </a:extLst>
          </p:cNvPr>
          <p:cNvPicPr>
            <a:picLocks noChangeAspect="1"/>
          </p:cNvPicPr>
          <p:nvPr/>
        </p:nvPicPr>
        <p:blipFill>
          <a:blip r:embed="rId2"/>
          <a:stretch>
            <a:fillRect/>
          </a:stretch>
        </p:blipFill>
        <p:spPr>
          <a:xfrm>
            <a:off x="511277" y="1159755"/>
            <a:ext cx="9832258" cy="5530645"/>
          </a:xfrm>
          <a:prstGeom prst="rect">
            <a:avLst/>
          </a:prstGeom>
        </p:spPr>
      </p:pic>
    </p:spTree>
    <p:extLst>
      <p:ext uri="{BB962C8B-B14F-4D97-AF65-F5344CB8AC3E}">
        <p14:creationId xmlns:p14="http://schemas.microsoft.com/office/powerpoint/2010/main" val="786536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741808-9CFB-F769-E0DA-F082A5382C7D}"/>
              </a:ext>
            </a:extLst>
          </p:cNvPr>
          <p:cNvSpPr txBox="1"/>
          <p:nvPr/>
        </p:nvSpPr>
        <p:spPr>
          <a:xfrm>
            <a:off x="658762" y="525589"/>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1F36C57E-C84C-5BA6-3EA5-49E01696B15D}"/>
              </a:ext>
            </a:extLst>
          </p:cNvPr>
          <p:cNvPicPr>
            <a:picLocks noChangeAspect="1"/>
          </p:cNvPicPr>
          <p:nvPr/>
        </p:nvPicPr>
        <p:blipFill>
          <a:blip r:embed="rId2"/>
          <a:stretch>
            <a:fillRect/>
          </a:stretch>
        </p:blipFill>
        <p:spPr>
          <a:xfrm>
            <a:off x="521109" y="1171920"/>
            <a:ext cx="10422193" cy="5294159"/>
          </a:xfrm>
          <a:prstGeom prst="rect">
            <a:avLst/>
          </a:prstGeom>
        </p:spPr>
      </p:pic>
    </p:spTree>
    <p:extLst>
      <p:ext uri="{BB962C8B-B14F-4D97-AF65-F5344CB8AC3E}">
        <p14:creationId xmlns:p14="http://schemas.microsoft.com/office/powerpoint/2010/main" val="468526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04C547-8542-12F5-5C35-E5085F1FC863}"/>
              </a:ext>
            </a:extLst>
          </p:cNvPr>
          <p:cNvSpPr txBox="1"/>
          <p:nvPr/>
        </p:nvSpPr>
        <p:spPr>
          <a:xfrm>
            <a:off x="1012723" y="700237"/>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1D4B026F-88EC-0CA8-C5BB-E87DEC15E764}"/>
              </a:ext>
            </a:extLst>
          </p:cNvPr>
          <p:cNvPicPr>
            <a:picLocks noChangeAspect="1"/>
          </p:cNvPicPr>
          <p:nvPr/>
        </p:nvPicPr>
        <p:blipFill>
          <a:blip r:embed="rId2"/>
          <a:stretch>
            <a:fillRect/>
          </a:stretch>
        </p:blipFill>
        <p:spPr>
          <a:xfrm>
            <a:off x="471948" y="1504334"/>
            <a:ext cx="10638504" cy="4878743"/>
          </a:xfrm>
          <a:prstGeom prst="rect">
            <a:avLst/>
          </a:prstGeom>
        </p:spPr>
      </p:pic>
    </p:spTree>
    <p:extLst>
      <p:ext uri="{BB962C8B-B14F-4D97-AF65-F5344CB8AC3E}">
        <p14:creationId xmlns:p14="http://schemas.microsoft.com/office/powerpoint/2010/main" val="1654530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B6E16E-CBC6-6368-99C0-2B05614F62F3}"/>
              </a:ext>
            </a:extLst>
          </p:cNvPr>
          <p:cNvSpPr txBox="1"/>
          <p:nvPr/>
        </p:nvSpPr>
        <p:spPr>
          <a:xfrm>
            <a:off x="825909" y="808392"/>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40685017-F4EE-3911-37FE-CE111C0AD443}"/>
              </a:ext>
            </a:extLst>
          </p:cNvPr>
          <p:cNvPicPr>
            <a:picLocks noChangeAspect="1"/>
          </p:cNvPicPr>
          <p:nvPr/>
        </p:nvPicPr>
        <p:blipFill>
          <a:blip r:embed="rId2"/>
          <a:stretch>
            <a:fillRect/>
          </a:stretch>
        </p:blipFill>
        <p:spPr>
          <a:xfrm>
            <a:off x="747252" y="1454723"/>
            <a:ext cx="10668000" cy="5014904"/>
          </a:xfrm>
          <a:prstGeom prst="rect">
            <a:avLst/>
          </a:prstGeom>
        </p:spPr>
      </p:pic>
    </p:spTree>
    <p:extLst>
      <p:ext uri="{BB962C8B-B14F-4D97-AF65-F5344CB8AC3E}">
        <p14:creationId xmlns:p14="http://schemas.microsoft.com/office/powerpoint/2010/main" val="22708561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02D6FD-807A-0A7B-937D-F61E33B82902}"/>
              </a:ext>
            </a:extLst>
          </p:cNvPr>
          <p:cNvSpPr txBox="1"/>
          <p:nvPr/>
        </p:nvSpPr>
        <p:spPr>
          <a:xfrm>
            <a:off x="521109" y="483929"/>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D15CB330-7369-719B-072D-BB6252068EBD}"/>
              </a:ext>
            </a:extLst>
          </p:cNvPr>
          <p:cNvPicPr>
            <a:picLocks noChangeAspect="1"/>
          </p:cNvPicPr>
          <p:nvPr/>
        </p:nvPicPr>
        <p:blipFill>
          <a:blip r:embed="rId2"/>
          <a:stretch>
            <a:fillRect/>
          </a:stretch>
        </p:blipFill>
        <p:spPr>
          <a:xfrm>
            <a:off x="265470" y="1130260"/>
            <a:ext cx="10087898" cy="5674443"/>
          </a:xfrm>
          <a:prstGeom prst="rect">
            <a:avLst/>
          </a:prstGeom>
        </p:spPr>
      </p:pic>
    </p:spTree>
    <p:extLst>
      <p:ext uri="{BB962C8B-B14F-4D97-AF65-F5344CB8AC3E}">
        <p14:creationId xmlns:p14="http://schemas.microsoft.com/office/powerpoint/2010/main" val="1898414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96498B-BD61-7540-AC41-1213057A558E}"/>
              </a:ext>
            </a:extLst>
          </p:cNvPr>
          <p:cNvSpPr txBox="1"/>
          <p:nvPr/>
        </p:nvSpPr>
        <p:spPr>
          <a:xfrm>
            <a:off x="442451" y="55275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B4503279-2110-8B02-B706-271412BAAB0A}"/>
              </a:ext>
            </a:extLst>
          </p:cNvPr>
          <p:cNvPicPr>
            <a:picLocks noChangeAspect="1"/>
          </p:cNvPicPr>
          <p:nvPr/>
        </p:nvPicPr>
        <p:blipFill>
          <a:blip r:embed="rId2"/>
          <a:stretch>
            <a:fillRect/>
          </a:stretch>
        </p:blipFill>
        <p:spPr>
          <a:xfrm>
            <a:off x="245806" y="1120426"/>
            <a:ext cx="10060293" cy="5658915"/>
          </a:xfrm>
          <a:prstGeom prst="rect">
            <a:avLst/>
          </a:prstGeom>
        </p:spPr>
      </p:pic>
    </p:spTree>
    <p:extLst>
      <p:ext uri="{BB962C8B-B14F-4D97-AF65-F5344CB8AC3E}">
        <p14:creationId xmlns:p14="http://schemas.microsoft.com/office/powerpoint/2010/main" val="3490592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5481A8-0F18-9CFC-F34E-6B10470609A0}"/>
              </a:ext>
            </a:extLst>
          </p:cNvPr>
          <p:cNvSpPr txBox="1"/>
          <p:nvPr/>
        </p:nvSpPr>
        <p:spPr>
          <a:xfrm>
            <a:off x="855407" y="657361"/>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B677BA0F-F7C5-DFE8-B506-E946045395E1}"/>
              </a:ext>
            </a:extLst>
          </p:cNvPr>
          <p:cNvPicPr>
            <a:picLocks noChangeAspect="1"/>
          </p:cNvPicPr>
          <p:nvPr/>
        </p:nvPicPr>
        <p:blipFill>
          <a:blip r:embed="rId2"/>
          <a:stretch>
            <a:fillRect/>
          </a:stretch>
        </p:blipFill>
        <p:spPr>
          <a:xfrm>
            <a:off x="648930" y="1303692"/>
            <a:ext cx="9743768" cy="5261635"/>
          </a:xfrm>
          <a:prstGeom prst="rect">
            <a:avLst/>
          </a:prstGeom>
        </p:spPr>
      </p:pic>
    </p:spTree>
    <p:extLst>
      <p:ext uri="{BB962C8B-B14F-4D97-AF65-F5344CB8AC3E}">
        <p14:creationId xmlns:p14="http://schemas.microsoft.com/office/powerpoint/2010/main" val="1265960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EBBD84-394D-E2FB-FD0E-3029B53FDA16}"/>
              </a:ext>
            </a:extLst>
          </p:cNvPr>
          <p:cNvSpPr txBox="1"/>
          <p:nvPr/>
        </p:nvSpPr>
        <p:spPr>
          <a:xfrm>
            <a:off x="530943" y="42493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4B8BA13B-8FE3-F5A6-DFC7-F09E818C7CA0}"/>
              </a:ext>
            </a:extLst>
          </p:cNvPr>
          <p:cNvPicPr>
            <a:picLocks noChangeAspect="1"/>
          </p:cNvPicPr>
          <p:nvPr/>
        </p:nvPicPr>
        <p:blipFill>
          <a:blip r:embed="rId2"/>
          <a:stretch>
            <a:fillRect/>
          </a:stretch>
        </p:blipFill>
        <p:spPr>
          <a:xfrm>
            <a:off x="530943" y="980461"/>
            <a:ext cx="10087896" cy="5674441"/>
          </a:xfrm>
          <a:prstGeom prst="rect">
            <a:avLst/>
          </a:prstGeom>
        </p:spPr>
      </p:pic>
    </p:spTree>
    <p:extLst>
      <p:ext uri="{BB962C8B-B14F-4D97-AF65-F5344CB8AC3E}">
        <p14:creationId xmlns:p14="http://schemas.microsoft.com/office/powerpoint/2010/main" val="2357618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72BAFB-59D0-10D8-20EE-94059EF299AE}"/>
              </a:ext>
            </a:extLst>
          </p:cNvPr>
          <p:cNvSpPr txBox="1"/>
          <p:nvPr/>
        </p:nvSpPr>
        <p:spPr>
          <a:xfrm>
            <a:off x="639097" y="69040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E5932F09-26A2-6523-757F-715EFDD572FD}"/>
              </a:ext>
            </a:extLst>
          </p:cNvPr>
          <p:cNvPicPr>
            <a:picLocks noChangeAspect="1"/>
          </p:cNvPicPr>
          <p:nvPr/>
        </p:nvPicPr>
        <p:blipFill>
          <a:blip r:embed="rId2"/>
          <a:stretch>
            <a:fillRect/>
          </a:stretch>
        </p:blipFill>
        <p:spPr>
          <a:xfrm>
            <a:off x="432620" y="1425676"/>
            <a:ext cx="9950245" cy="5294671"/>
          </a:xfrm>
          <a:prstGeom prst="rect">
            <a:avLst/>
          </a:prstGeom>
        </p:spPr>
      </p:pic>
    </p:spTree>
    <p:extLst>
      <p:ext uri="{BB962C8B-B14F-4D97-AF65-F5344CB8AC3E}">
        <p14:creationId xmlns:p14="http://schemas.microsoft.com/office/powerpoint/2010/main" val="15239976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000" dirty="0"/>
              <a:t>This project successfully demonstrates the application of machine learning techniques for monitoring and predicting drinking water quality. By analyzing real-time and historical sensor data, the proposed system accurately classifies water as safe or unsafe and detects potential contamination at an early stage. The results show improved accuracy and effectiveness compared to traditional monitoring methods. Overall, the system provides a reliable, automated, and scalable solution for ensuring safe drinking water, supporting timely decision-making and enhancing public health protection.</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2" name="Content Placeholder 1">
            <a:extLst>
              <a:ext uri="{FF2B5EF4-FFF2-40B4-BE49-F238E27FC236}">
                <a16:creationId xmlns:a16="http://schemas.microsoft.com/office/drawing/2014/main" id="{EE887C33-D9BF-C20C-440F-B9411330B895}"/>
              </a:ext>
            </a:extLst>
          </p:cNvPr>
          <p:cNvSpPr>
            <a:spLocks noGrp="1" noChangeArrowheads="1"/>
          </p:cNvSpPr>
          <p:nvPr>
            <p:ph idx="1"/>
          </p:nvPr>
        </p:nvSpPr>
        <p:spPr bwMode="auto">
          <a:xfrm>
            <a:off x="581192" y="2761525"/>
            <a:ext cx="91518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of advanced deep learning models to improve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Expansion of sensor parameters to detect biological and chemical contaminants.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Real-time mobile application for public awareness and authority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with weather and satellite data to predict contamination risks in advance.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Deployment at a large scale across cities and rural areas for smart water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Use of blockchain technology to ensure data security and integrity.</a:t>
            </a:r>
          </a:p>
        </p:txBody>
      </p:sp>
    </p:spTree>
    <p:extLst>
      <p:ext uri="{BB962C8B-B14F-4D97-AF65-F5344CB8AC3E}">
        <p14:creationId xmlns:p14="http://schemas.microsoft.com/office/powerpoint/2010/main" val="614882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Rectangle 1">
            <a:extLst>
              <a:ext uri="{FF2B5EF4-FFF2-40B4-BE49-F238E27FC236}">
                <a16:creationId xmlns:a16="http://schemas.microsoft.com/office/drawing/2014/main" id="{A27A5F3D-A4F3-25F7-2285-393881ADBA9E}"/>
              </a:ext>
            </a:extLst>
          </p:cNvPr>
          <p:cNvSpPr>
            <a:spLocks noGrp="1" noChangeArrowheads="1"/>
          </p:cNvSpPr>
          <p:nvPr>
            <p:ph idx="1"/>
          </p:nvPr>
        </p:nvSpPr>
        <p:spPr bwMode="auto">
          <a:xfrm>
            <a:off x="581192" y="2900024"/>
            <a:ext cx="783554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World Health Organization (WHO), </a:t>
            </a:r>
            <a:r>
              <a:rPr kumimoji="0" lang="en-US" altLang="en-US" sz="1800" b="0" i="1" u="none" strike="noStrike" cap="none" normalizeH="0" baseline="0" dirty="0">
                <a:ln>
                  <a:noFill/>
                </a:ln>
                <a:solidFill>
                  <a:schemeClr val="tx1"/>
                </a:solidFill>
                <a:effectLst/>
                <a:latin typeface="Arial" panose="020B0604020202020204" pitchFamily="34" charset="0"/>
              </a:rPr>
              <a:t>Guidelines for Drinking Water Quality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 Environmental Protection Agency (EPA), </a:t>
            </a:r>
            <a:r>
              <a:rPr kumimoji="0" lang="en-US" altLang="en-US" sz="1800" b="0" i="1" u="none" strike="noStrike" cap="none" normalizeH="0" baseline="0" dirty="0">
                <a:ln>
                  <a:noFill/>
                </a:ln>
                <a:solidFill>
                  <a:schemeClr val="tx1"/>
                </a:solidFill>
                <a:effectLst/>
                <a:latin typeface="Arial" panose="020B0604020202020204" pitchFamily="34" charset="0"/>
              </a:rPr>
              <a:t>Drinking Water Standards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Breiman</a:t>
            </a:r>
            <a:r>
              <a:rPr kumimoji="0" lang="en-US" altLang="en-US" sz="1800" b="0" i="0" u="none" strike="noStrike" cap="none" normalizeH="0" baseline="0" dirty="0">
                <a:ln>
                  <a:noFill/>
                </a:ln>
                <a:solidFill>
                  <a:schemeClr val="tx1"/>
                </a:solidFill>
                <a:effectLst/>
                <a:latin typeface="Arial" panose="020B0604020202020204" pitchFamily="34" charset="0"/>
              </a:rPr>
              <a:t>, L., “Random Forests,” </a:t>
            </a:r>
            <a:r>
              <a:rPr kumimoji="0" lang="en-US" altLang="en-US" sz="1800" b="0" i="1" u="none" strike="noStrike" cap="none" normalizeH="0" baseline="0" dirty="0">
                <a:ln>
                  <a:noFill/>
                </a:ln>
                <a:solidFill>
                  <a:schemeClr val="tx1"/>
                </a:solidFill>
                <a:effectLst/>
                <a:latin typeface="Arial" panose="020B0604020202020204" pitchFamily="34" charset="0"/>
              </a:rPr>
              <a:t>Machine Learning Journal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UCI Machine Learning Repository, </a:t>
            </a:r>
            <a:r>
              <a:rPr kumimoji="0" lang="en-US" altLang="en-US" sz="1800" b="0" i="1" u="none" strike="noStrike" cap="none" normalizeH="0" baseline="0" dirty="0">
                <a:ln>
                  <a:noFill/>
                </a:ln>
                <a:solidFill>
                  <a:schemeClr val="tx1"/>
                </a:solidFill>
                <a:effectLst/>
                <a:latin typeface="Arial" panose="020B0604020202020204" pitchFamily="34" charset="0"/>
              </a:rPr>
              <a:t>Water Quality Dataset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Géron</a:t>
            </a: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0" i="1" u="none" strike="noStrike" cap="none" normalizeH="0" baseline="0" dirty="0">
                <a:ln>
                  <a:noFill/>
                </a:ln>
                <a:solidFill>
                  <a:schemeClr val="tx1"/>
                </a:solidFill>
                <a:effectLst/>
                <a:latin typeface="Arial" panose="020B0604020202020204" pitchFamily="34" charset="0"/>
              </a:rPr>
              <a:t>Hands-On Machine Learning with Scikit-Learn and TensorFlow</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28950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normAutofit/>
          </a:bodyPr>
          <a:lstStyle/>
          <a:p>
            <a:pPr algn="ctr"/>
            <a:r>
              <a:rPr lang="en-US" sz="60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798</Words>
  <Application>Microsoft Office PowerPoint</Application>
  <PresentationFormat>Widescreen</PresentationFormat>
  <Paragraphs>81</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Franklin Gothic Book</vt:lpstr>
      <vt:lpstr>Franklin Gothic Demi</vt:lpstr>
      <vt:lpstr>Wingdings 2</vt:lpstr>
      <vt:lpstr>DividendVTI</vt:lpstr>
      <vt:lpstr>Improved source of drinking water </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surajojha06@outlook.com</cp:lastModifiedBy>
  <cp:revision>31</cp:revision>
  <dcterms:created xsi:type="dcterms:W3CDTF">2021-05-26T16:50:10Z</dcterms:created>
  <dcterms:modified xsi:type="dcterms:W3CDTF">2026-02-06T14:44:56Z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